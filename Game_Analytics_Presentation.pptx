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DF1E4-9AEA-4B09-A3BA-6C2FE45B7C8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019554E-EEE5-4C57-A8FA-F8A941BB7DC6}">
      <dgm:prSet phldrT="[Text]"/>
      <dgm:spPr/>
      <dgm:t>
        <a:bodyPr/>
        <a:lstStyle/>
        <a:p>
          <a:r>
            <a:rPr lang="en-US" b="1" dirty="0" smtClean="0"/>
            <a:t>JSON Data</a:t>
          </a:r>
          <a:endParaRPr lang="en-US" b="1" dirty="0"/>
        </a:p>
      </dgm:t>
    </dgm:pt>
    <dgm:pt modelId="{6F5C462D-3C40-4B72-9F88-A72091357DA9}" type="parTrans" cxnId="{00C3AF16-70B8-490F-9AAF-6A2133E36C8E}">
      <dgm:prSet/>
      <dgm:spPr/>
      <dgm:t>
        <a:bodyPr/>
        <a:lstStyle/>
        <a:p>
          <a:endParaRPr lang="en-US"/>
        </a:p>
      </dgm:t>
    </dgm:pt>
    <dgm:pt modelId="{BAB5C7B4-8294-4871-BFEB-7E397F174059}" type="sibTrans" cxnId="{00C3AF16-70B8-490F-9AAF-6A2133E36C8E}">
      <dgm:prSet/>
      <dgm:spPr/>
      <dgm:t>
        <a:bodyPr/>
        <a:lstStyle/>
        <a:p>
          <a:endParaRPr lang="en-US"/>
        </a:p>
      </dgm:t>
    </dgm:pt>
    <dgm:pt modelId="{D2C23FA8-1FEE-4261-B099-E00D59B6818B}">
      <dgm:prSet phldrT="[Text]"/>
      <dgm:spPr/>
      <dgm:t>
        <a:bodyPr/>
        <a:lstStyle/>
        <a:p>
          <a:r>
            <a:rPr lang="en-US" b="1" dirty="0" smtClean="0"/>
            <a:t>Python</a:t>
          </a:r>
          <a:endParaRPr lang="en-US" b="1" dirty="0"/>
        </a:p>
      </dgm:t>
    </dgm:pt>
    <dgm:pt modelId="{F1A52B2A-FD4A-4122-B97A-8FA813E3201B}" type="parTrans" cxnId="{2F71967F-1370-4492-A38C-19D59422CCD2}">
      <dgm:prSet/>
      <dgm:spPr/>
      <dgm:t>
        <a:bodyPr/>
        <a:lstStyle/>
        <a:p>
          <a:endParaRPr lang="en-US"/>
        </a:p>
      </dgm:t>
    </dgm:pt>
    <dgm:pt modelId="{C22E2117-E6D5-402E-B123-BED17E460F82}" type="sibTrans" cxnId="{2F71967F-1370-4492-A38C-19D59422CCD2}">
      <dgm:prSet/>
      <dgm:spPr/>
      <dgm:t>
        <a:bodyPr/>
        <a:lstStyle/>
        <a:p>
          <a:endParaRPr lang="en-US"/>
        </a:p>
      </dgm:t>
    </dgm:pt>
    <dgm:pt modelId="{050134C4-A56E-4279-971C-1D7FAC0EC2F1}">
      <dgm:prSet phldrT="[Text]"/>
      <dgm:spPr/>
      <dgm:t>
        <a:bodyPr/>
        <a:lstStyle/>
        <a:p>
          <a:r>
            <a:rPr lang="en-US" b="1" dirty="0" smtClean="0"/>
            <a:t>SQLite Database</a:t>
          </a:r>
          <a:endParaRPr lang="en-US" b="1" dirty="0"/>
        </a:p>
      </dgm:t>
    </dgm:pt>
    <dgm:pt modelId="{09E9ED21-35A4-44F1-B60B-59F402D35B1A}" type="parTrans" cxnId="{28A7E00E-8309-432A-9F17-D3C40B82B70B}">
      <dgm:prSet/>
      <dgm:spPr/>
      <dgm:t>
        <a:bodyPr/>
        <a:lstStyle/>
        <a:p>
          <a:endParaRPr lang="en-US"/>
        </a:p>
      </dgm:t>
    </dgm:pt>
    <dgm:pt modelId="{1F255B6F-7FFE-4602-917B-06161171B9D0}" type="sibTrans" cxnId="{28A7E00E-8309-432A-9F17-D3C40B82B70B}">
      <dgm:prSet/>
      <dgm:spPr/>
      <dgm:t>
        <a:bodyPr/>
        <a:lstStyle/>
        <a:p>
          <a:endParaRPr lang="en-US"/>
        </a:p>
      </dgm:t>
    </dgm:pt>
    <dgm:pt modelId="{765EA4D4-BF3D-488B-B03C-A5153CD6AF84}">
      <dgm:prSet phldrT="[Text]" custT="1"/>
      <dgm:spPr/>
      <dgm:t>
        <a:bodyPr/>
        <a:lstStyle/>
        <a:p>
          <a:r>
            <a:rPr lang="en-US" sz="1800" b="1" dirty="0" smtClean="0"/>
            <a:t>User</a:t>
          </a:r>
          <a:endParaRPr lang="en-US" sz="1800" b="1" dirty="0"/>
        </a:p>
      </dgm:t>
    </dgm:pt>
    <dgm:pt modelId="{09A8866D-8C66-4CE1-8FE8-E2A868A2C41A}" type="parTrans" cxnId="{E3BBFF77-188F-48BA-907C-4EE906949363}">
      <dgm:prSet/>
      <dgm:spPr/>
      <dgm:t>
        <a:bodyPr/>
        <a:lstStyle/>
        <a:p>
          <a:endParaRPr lang="en-US"/>
        </a:p>
      </dgm:t>
    </dgm:pt>
    <dgm:pt modelId="{AAE8FB36-65D6-4BBB-8A2E-278DC8AEF0F4}" type="sibTrans" cxnId="{E3BBFF77-188F-48BA-907C-4EE906949363}">
      <dgm:prSet/>
      <dgm:spPr/>
      <dgm:t>
        <a:bodyPr/>
        <a:lstStyle/>
        <a:p>
          <a:endParaRPr lang="en-US"/>
        </a:p>
      </dgm:t>
    </dgm:pt>
    <dgm:pt modelId="{A76F3CF0-E2D9-4B2C-A0FE-5B6DE672DD99}">
      <dgm:prSet phldrT="[Text]"/>
      <dgm:spPr/>
      <dgm:t>
        <a:bodyPr/>
        <a:lstStyle/>
        <a:p>
          <a:r>
            <a:rPr lang="en-US" b="1" dirty="0" smtClean="0"/>
            <a:t>SQL Queries</a:t>
          </a:r>
          <a:endParaRPr lang="en-US" b="1" dirty="0"/>
        </a:p>
      </dgm:t>
    </dgm:pt>
    <dgm:pt modelId="{C385B7E7-AB66-4446-8E56-8DFC7550F2B0}" type="parTrans" cxnId="{0BECF5B9-FF4E-4790-A481-978C772C112A}">
      <dgm:prSet/>
      <dgm:spPr/>
      <dgm:t>
        <a:bodyPr/>
        <a:lstStyle/>
        <a:p>
          <a:endParaRPr lang="en-US"/>
        </a:p>
      </dgm:t>
    </dgm:pt>
    <dgm:pt modelId="{DAAFBA10-0E1B-4E15-9B79-901AE5E75281}" type="sibTrans" cxnId="{0BECF5B9-FF4E-4790-A481-978C772C112A}">
      <dgm:prSet/>
      <dgm:spPr/>
      <dgm:t>
        <a:bodyPr/>
        <a:lstStyle/>
        <a:p>
          <a:endParaRPr lang="en-US"/>
        </a:p>
      </dgm:t>
    </dgm:pt>
    <dgm:pt modelId="{78ADB8AA-D931-4A99-9026-F48EA1892EF9}">
      <dgm:prSet phldrT="[Text]"/>
      <dgm:spPr/>
      <dgm:t>
        <a:bodyPr/>
        <a:lstStyle/>
        <a:p>
          <a:r>
            <a:rPr lang="en-US" b="1" dirty="0" err="1" smtClean="0"/>
            <a:t>Streamlit</a:t>
          </a:r>
          <a:r>
            <a:rPr lang="en-US" b="1" dirty="0" smtClean="0"/>
            <a:t> Dashboard</a:t>
          </a:r>
          <a:endParaRPr lang="en-US" b="1" dirty="0"/>
        </a:p>
      </dgm:t>
    </dgm:pt>
    <dgm:pt modelId="{7941DA46-DE01-408D-9A17-78EC42C28B4A}" type="parTrans" cxnId="{8A6F5BF6-139C-46B9-97DD-C2471636B901}">
      <dgm:prSet/>
      <dgm:spPr/>
      <dgm:t>
        <a:bodyPr/>
        <a:lstStyle/>
        <a:p>
          <a:endParaRPr lang="en-US"/>
        </a:p>
      </dgm:t>
    </dgm:pt>
    <dgm:pt modelId="{37DB7EE3-AA5E-4541-A1F7-CABB2A78CDDD}" type="sibTrans" cxnId="{8A6F5BF6-139C-46B9-97DD-C2471636B901}">
      <dgm:prSet/>
      <dgm:spPr/>
      <dgm:t>
        <a:bodyPr/>
        <a:lstStyle/>
        <a:p>
          <a:endParaRPr lang="en-US"/>
        </a:p>
      </dgm:t>
    </dgm:pt>
    <dgm:pt modelId="{D784DD17-3843-4784-8992-6949CA6096DA}" type="pres">
      <dgm:prSet presAssocID="{AC7DF1E4-9AEA-4B09-A3BA-6C2FE45B7C87}" presName="linearFlow" presStyleCnt="0">
        <dgm:presLayoutVars>
          <dgm:resizeHandles val="exact"/>
        </dgm:presLayoutVars>
      </dgm:prSet>
      <dgm:spPr/>
    </dgm:pt>
    <dgm:pt modelId="{A0228D3F-444A-4AC3-B56A-479F1D2CB8E5}" type="pres">
      <dgm:prSet presAssocID="{6019554E-EEE5-4C57-A8FA-F8A941BB7DC6}" presName="node" presStyleLbl="node1" presStyleIdx="0" presStyleCnt="6">
        <dgm:presLayoutVars>
          <dgm:bulletEnabled val="1"/>
        </dgm:presLayoutVars>
      </dgm:prSet>
      <dgm:spPr/>
    </dgm:pt>
    <dgm:pt modelId="{F0758125-DA50-40D7-8544-0A297B638512}" type="pres">
      <dgm:prSet presAssocID="{BAB5C7B4-8294-4871-BFEB-7E397F174059}" presName="sibTrans" presStyleLbl="sibTrans2D1" presStyleIdx="0" presStyleCnt="5"/>
      <dgm:spPr/>
    </dgm:pt>
    <dgm:pt modelId="{D37C036E-7C6D-4F59-96AD-19FD5AD48DF3}" type="pres">
      <dgm:prSet presAssocID="{BAB5C7B4-8294-4871-BFEB-7E397F174059}" presName="connectorText" presStyleLbl="sibTrans2D1" presStyleIdx="0" presStyleCnt="5"/>
      <dgm:spPr/>
    </dgm:pt>
    <dgm:pt modelId="{6095D85C-D695-4F3E-961E-8289B77D9CEB}" type="pres">
      <dgm:prSet presAssocID="{D2C23FA8-1FEE-4261-B099-E00D59B6818B}" presName="node" presStyleLbl="node1" presStyleIdx="1" presStyleCnt="6">
        <dgm:presLayoutVars>
          <dgm:bulletEnabled val="1"/>
        </dgm:presLayoutVars>
      </dgm:prSet>
      <dgm:spPr/>
    </dgm:pt>
    <dgm:pt modelId="{2C43781E-3D80-4947-BF4A-6B428E9F1B0D}" type="pres">
      <dgm:prSet presAssocID="{C22E2117-E6D5-402E-B123-BED17E460F82}" presName="sibTrans" presStyleLbl="sibTrans2D1" presStyleIdx="1" presStyleCnt="5"/>
      <dgm:spPr/>
    </dgm:pt>
    <dgm:pt modelId="{D65E3CC0-2690-40E3-8E58-0742F8FD38ED}" type="pres">
      <dgm:prSet presAssocID="{C22E2117-E6D5-402E-B123-BED17E460F82}" presName="connectorText" presStyleLbl="sibTrans2D1" presStyleIdx="1" presStyleCnt="5"/>
      <dgm:spPr/>
    </dgm:pt>
    <dgm:pt modelId="{BC7EC83D-D6F1-4899-A502-15D318990FBF}" type="pres">
      <dgm:prSet presAssocID="{050134C4-A56E-4279-971C-1D7FAC0EC2F1}" presName="node" presStyleLbl="node1" presStyleIdx="2" presStyleCnt="6">
        <dgm:presLayoutVars>
          <dgm:bulletEnabled val="1"/>
        </dgm:presLayoutVars>
      </dgm:prSet>
      <dgm:spPr/>
    </dgm:pt>
    <dgm:pt modelId="{C9713562-7EFA-4988-81E8-C1AEE75E3DA8}" type="pres">
      <dgm:prSet presAssocID="{1F255B6F-7FFE-4602-917B-06161171B9D0}" presName="sibTrans" presStyleLbl="sibTrans2D1" presStyleIdx="2" presStyleCnt="5"/>
      <dgm:spPr/>
    </dgm:pt>
    <dgm:pt modelId="{A99F0B1E-D794-47DA-BCC5-572B7834D4A3}" type="pres">
      <dgm:prSet presAssocID="{1F255B6F-7FFE-4602-917B-06161171B9D0}" presName="connectorText" presStyleLbl="sibTrans2D1" presStyleIdx="2" presStyleCnt="5"/>
      <dgm:spPr/>
    </dgm:pt>
    <dgm:pt modelId="{1D1F3816-2581-4272-B89A-3CF94B4CA1A6}" type="pres">
      <dgm:prSet presAssocID="{A76F3CF0-E2D9-4B2C-A0FE-5B6DE672DD99}" presName="node" presStyleLbl="node1" presStyleIdx="3" presStyleCnt="6">
        <dgm:presLayoutVars>
          <dgm:bulletEnabled val="1"/>
        </dgm:presLayoutVars>
      </dgm:prSet>
      <dgm:spPr/>
    </dgm:pt>
    <dgm:pt modelId="{95EC363F-CCC8-41CF-9FC9-E8AD583EEF18}" type="pres">
      <dgm:prSet presAssocID="{DAAFBA10-0E1B-4E15-9B79-901AE5E75281}" presName="sibTrans" presStyleLbl="sibTrans2D1" presStyleIdx="3" presStyleCnt="5"/>
      <dgm:spPr/>
    </dgm:pt>
    <dgm:pt modelId="{8D96E03B-F991-459B-90DA-FEB20E0ADBC3}" type="pres">
      <dgm:prSet presAssocID="{DAAFBA10-0E1B-4E15-9B79-901AE5E75281}" presName="connectorText" presStyleLbl="sibTrans2D1" presStyleIdx="3" presStyleCnt="5"/>
      <dgm:spPr/>
    </dgm:pt>
    <dgm:pt modelId="{757A67E5-9DFF-4C5D-BA0C-5FC66E2D5B69}" type="pres">
      <dgm:prSet presAssocID="{78ADB8AA-D931-4A99-9026-F48EA1892EF9}" presName="node" presStyleLbl="node1" presStyleIdx="4" presStyleCnt="6">
        <dgm:presLayoutVars>
          <dgm:bulletEnabled val="1"/>
        </dgm:presLayoutVars>
      </dgm:prSet>
      <dgm:spPr/>
    </dgm:pt>
    <dgm:pt modelId="{1CA8C978-881E-4D2D-B3A2-1C2067AF28F7}" type="pres">
      <dgm:prSet presAssocID="{37DB7EE3-AA5E-4541-A1F7-CABB2A78CDDD}" presName="sibTrans" presStyleLbl="sibTrans2D1" presStyleIdx="4" presStyleCnt="5"/>
      <dgm:spPr/>
    </dgm:pt>
    <dgm:pt modelId="{D9E8C284-27D8-4433-825E-F1B82AF4CA7D}" type="pres">
      <dgm:prSet presAssocID="{37DB7EE3-AA5E-4541-A1F7-CABB2A78CDDD}" presName="connectorText" presStyleLbl="sibTrans2D1" presStyleIdx="4" presStyleCnt="5"/>
      <dgm:spPr/>
    </dgm:pt>
    <dgm:pt modelId="{841A16BA-817B-4C31-9D4D-927771756BDD}" type="pres">
      <dgm:prSet presAssocID="{765EA4D4-BF3D-488B-B03C-A5153CD6AF84}" presName="node" presStyleLbl="node1" presStyleIdx="5" presStyleCnt="6">
        <dgm:presLayoutVars>
          <dgm:bulletEnabled val="1"/>
        </dgm:presLayoutVars>
      </dgm:prSet>
      <dgm:spPr/>
    </dgm:pt>
  </dgm:ptLst>
  <dgm:cxnLst>
    <dgm:cxn modelId="{28A7E00E-8309-432A-9F17-D3C40B82B70B}" srcId="{AC7DF1E4-9AEA-4B09-A3BA-6C2FE45B7C87}" destId="{050134C4-A56E-4279-971C-1D7FAC0EC2F1}" srcOrd="2" destOrd="0" parTransId="{09E9ED21-35A4-44F1-B60B-59F402D35B1A}" sibTransId="{1F255B6F-7FFE-4602-917B-06161171B9D0}"/>
    <dgm:cxn modelId="{69D7E60B-84BD-44CC-B694-4F5A84F0414E}" type="presOf" srcId="{050134C4-A56E-4279-971C-1D7FAC0EC2F1}" destId="{BC7EC83D-D6F1-4899-A502-15D318990FBF}" srcOrd="0" destOrd="0" presId="urn:microsoft.com/office/officeart/2005/8/layout/process2"/>
    <dgm:cxn modelId="{C11DC694-5BDE-43E5-BC85-B6F78F78F375}" type="presOf" srcId="{1F255B6F-7FFE-4602-917B-06161171B9D0}" destId="{A99F0B1E-D794-47DA-BCC5-572B7834D4A3}" srcOrd="1" destOrd="0" presId="urn:microsoft.com/office/officeart/2005/8/layout/process2"/>
    <dgm:cxn modelId="{E3BBFF77-188F-48BA-907C-4EE906949363}" srcId="{AC7DF1E4-9AEA-4B09-A3BA-6C2FE45B7C87}" destId="{765EA4D4-BF3D-488B-B03C-A5153CD6AF84}" srcOrd="5" destOrd="0" parTransId="{09A8866D-8C66-4CE1-8FE8-E2A868A2C41A}" sibTransId="{AAE8FB36-65D6-4BBB-8A2E-278DC8AEF0F4}"/>
    <dgm:cxn modelId="{8A6F5BF6-139C-46B9-97DD-C2471636B901}" srcId="{AC7DF1E4-9AEA-4B09-A3BA-6C2FE45B7C87}" destId="{78ADB8AA-D931-4A99-9026-F48EA1892EF9}" srcOrd="4" destOrd="0" parTransId="{7941DA46-DE01-408D-9A17-78EC42C28B4A}" sibTransId="{37DB7EE3-AA5E-4541-A1F7-CABB2A78CDDD}"/>
    <dgm:cxn modelId="{7947904C-2741-4D6F-A833-D6193304956C}" type="presOf" srcId="{A76F3CF0-E2D9-4B2C-A0FE-5B6DE672DD99}" destId="{1D1F3816-2581-4272-B89A-3CF94B4CA1A6}" srcOrd="0" destOrd="0" presId="urn:microsoft.com/office/officeart/2005/8/layout/process2"/>
    <dgm:cxn modelId="{002F1A88-C73B-4A33-A5B7-248A8435E87E}" type="presOf" srcId="{D2C23FA8-1FEE-4261-B099-E00D59B6818B}" destId="{6095D85C-D695-4F3E-961E-8289B77D9CEB}" srcOrd="0" destOrd="0" presId="urn:microsoft.com/office/officeart/2005/8/layout/process2"/>
    <dgm:cxn modelId="{1FCA9810-9D12-4DE0-9ACA-DAD2053D5FB7}" type="presOf" srcId="{37DB7EE3-AA5E-4541-A1F7-CABB2A78CDDD}" destId="{1CA8C978-881E-4D2D-B3A2-1C2067AF28F7}" srcOrd="0" destOrd="0" presId="urn:microsoft.com/office/officeart/2005/8/layout/process2"/>
    <dgm:cxn modelId="{92801065-AFAE-47A2-8296-511BDAC514ED}" type="presOf" srcId="{DAAFBA10-0E1B-4E15-9B79-901AE5E75281}" destId="{8D96E03B-F991-459B-90DA-FEB20E0ADBC3}" srcOrd="1" destOrd="0" presId="urn:microsoft.com/office/officeart/2005/8/layout/process2"/>
    <dgm:cxn modelId="{6689C072-4789-4505-8F39-473D694B6DD9}" type="presOf" srcId="{BAB5C7B4-8294-4871-BFEB-7E397F174059}" destId="{D37C036E-7C6D-4F59-96AD-19FD5AD48DF3}" srcOrd="1" destOrd="0" presId="urn:microsoft.com/office/officeart/2005/8/layout/process2"/>
    <dgm:cxn modelId="{00C3AF16-70B8-490F-9AAF-6A2133E36C8E}" srcId="{AC7DF1E4-9AEA-4B09-A3BA-6C2FE45B7C87}" destId="{6019554E-EEE5-4C57-A8FA-F8A941BB7DC6}" srcOrd="0" destOrd="0" parTransId="{6F5C462D-3C40-4B72-9F88-A72091357DA9}" sibTransId="{BAB5C7B4-8294-4871-BFEB-7E397F174059}"/>
    <dgm:cxn modelId="{622218A3-EB87-4DE2-9D16-EC5E1BC903AD}" type="presOf" srcId="{BAB5C7B4-8294-4871-BFEB-7E397F174059}" destId="{F0758125-DA50-40D7-8544-0A297B638512}" srcOrd="0" destOrd="0" presId="urn:microsoft.com/office/officeart/2005/8/layout/process2"/>
    <dgm:cxn modelId="{C09A127B-0BAB-4825-AC62-D38EB732C357}" type="presOf" srcId="{78ADB8AA-D931-4A99-9026-F48EA1892EF9}" destId="{757A67E5-9DFF-4C5D-BA0C-5FC66E2D5B69}" srcOrd="0" destOrd="0" presId="urn:microsoft.com/office/officeart/2005/8/layout/process2"/>
    <dgm:cxn modelId="{F7F8C448-BE25-4720-827D-BD18AAAA9380}" type="presOf" srcId="{AC7DF1E4-9AEA-4B09-A3BA-6C2FE45B7C87}" destId="{D784DD17-3843-4784-8992-6949CA6096DA}" srcOrd="0" destOrd="0" presId="urn:microsoft.com/office/officeart/2005/8/layout/process2"/>
    <dgm:cxn modelId="{954F198A-5A0A-4CE0-9A8F-440D6DAE8150}" type="presOf" srcId="{765EA4D4-BF3D-488B-B03C-A5153CD6AF84}" destId="{841A16BA-817B-4C31-9D4D-927771756BDD}" srcOrd="0" destOrd="0" presId="urn:microsoft.com/office/officeart/2005/8/layout/process2"/>
    <dgm:cxn modelId="{63798A37-5A8A-4D6B-8835-3736EF63C2C1}" type="presOf" srcId="{C22E2117-E6D5-402E-B123-BED17E460F82}" destId="{D65E3CC0-2690-40E3-8E58-0742F8FD38ED}" srcOrd="1" destOrd="0" presId="urn:microsoft.com/office/officeart/2005/8/layout/process2"/>
    <dgm:cxn modelId="{E84DFB10-E15D-4FEE-930A-F2A55FE9DCE2}" type="presOf" srcId="{DAAFBA10-0E1B-4E15-9B79-901AE5E75281}" destId="{95EC363F-CCC8-41CF-9FC9-E8AD583EEF18}" srcOrd="0" destOrd="0" presId="urn:microsoft.com/office/officeart/2005/8/layout/process2"/>
    <dgm:cxn modelId="{04B63934-D929-4979-9CDC-BA00273EBCDA}" type="presOf" srcId="{6019554E-EEE5-4C57-A8FA-F8A941BB7DC6}" destId="{A0228D3F-444A-4AC3-B56A-479F1D2CB8E5}" srcOrd="0" destOrd="0" presId="urn:microsoft.com/office/officeart/2005/8/layout/process2"/>
    <dgm:cxn modelId="{2F71967F-1370-4492-A38C-19D59422CCD2}" srcId="{AC7DF1E4-9AEA-4B09-A3BA-6C2FE45B7C87}" destId="{D2C23FA8-1FEE-4261-B099-E00D59B6818B}" srcOrd="1" destOrd="0" parTransId="{F1A52B2A-FD4A-4122-B97A-8FA813E3201B}" sibTransId="{C22E2117-E6D5-402E-B123-BED17E460F82}"/>
    <dgm:cxn modelId="{7E87EEF6-E77C-405E-9100-DF85309F852A}" type="presOf" srcId="{1F255B6F-7FFE-4602-917B-06161171B9D0}" destId="{C9713562-7EFA-4988-81E8-C1AEE75E3DA8}" srcOrd="0" destOrd="0" presId="urn:microsoft.com/office/officeart/2005/8/layout/process2"/>
    <dgm:cxn modelId="{0BECF5B9-FF4E-4790-A481-978C772C112A}" srcId="{AC7DF1E4-9AEA-4B09-A3BA-6C2FE45B7C87}" destId="{A76F3CF0-E2D9-4B2C-A0FE-5B6DE672DD99}" srcOrd="3" destOrd="0" parTransId="{C385B7E7-AB66-4446-8E56-8DFC7550F2B0}" sibTransId="{DAAFBA10-0E1B-4E15-9B79-901AE5E75281}"/>
    <dgm:cxn modelId="{6179C1F4-891F-4E2C-8A8A-93528DC81904}" type="presOf" srcId="{C22E2117-E6D5-402E-B123-BED17E460F82}" destId="{2C43781E-3D80-4947-BF4A-6B428E9F1B0D}" srcOrd="0" destOrd="0" presId="urn:microsoft.com/office/officeart/2005/8/layout/process2"/>
    <dgm:cxn modelId="{B02BBE6C-57A1-483B-B926-429574169D4D}" type="presOf" srcId="{37DB7EE3-AA5E-4541-A1F7-CABB2A78CDDD}" destId="{D9E8C284-27D8-4433-825E-F1B82AF4CA7D}" srcOrd="1" destOrd="0" presId="urn:microsoft.com/office/officeart/2005/8/layout/process2"/>
    <dgm:cxn modelId="{EBEF1679-6410-4686-A107-9285D5D3B931}" type="presParOf" srcId="{D784DD17-3843-4784-8992-6949CA6096DA}" destId="{A0228D3F-444A-4AC3-B56A-479F1D2CB8E5}" srcOrd="0" destOrd="0" presId="urn:microsoft.com/office/officeart/2005/8/layout/process2"/>
    <dgm:cxn modelId="{B966E3D6-E1D3-4518-B33F-6FB5D5F46657}" type="presParOf" srcId="{D784DD17-3843-4784-8992-6949CA6096DA}" destId="{F0758125-DA50-40D7-8544-0A297B638512}" srcOrd="1" destOrd="0" presId="urn:microsoft.com/office/officeart/2005/8/layout/process2"/>
    <dgm:cxn modelId="{579661FE-BA15-435D-9D20-79D228D7DCE2}" type="presParOf" srcId="{F0758125-DA50-40D7-8544-0A297B638512}" destId="{D37C036E-7C6D-4F59-96AD-19FD5AD48DF3}" srcOrd="0" destOrd="0" presId="urn:microsoft.com/office/officeart/2005/8/layout/process2"/>
    <dgm:cxn modelId="{7F3FC1C1-FE9E-4B25-A26A-2C1BE89D5F41}" type="presParOf" srcId="{D784DD17-3843-4784-8992-6949CA6096DA}" destId="{6095D85C-D695-4F3E-961E-8289B77D9CEB}" srcOrd="2" destOrd="0" presId="urn:microsoft.com/office/officeart/2005/8/layout/process2"/>
    <dgm:cxn modelId="{584BFB30-9A7D-4A3B-B337-BBE2EA1D03D1}" type="presParOf" srcId="{D784DD17-3843-4784-8992-6949CA6096DA}" destId="{2C43781E-3D80-4947-BF4A-6B428E9F1B0D}" srcOrd="3" destOrd="0" presId="urn:microsoft.com/office/officeart/2005/8/layout/process2"/>
    <dgm:cxn modelId="{E2A3C3FA-F3D4-440A-8936-16F080F51748}" type="presParOf" srcId="{2C43781E-3D80-4947-BF4A-6B428E9F1B0D}" destId="{D65E3CC0-2690-40E3-8E58-0742F8FD38ED}" srcOrd="0" destOrd="0" presId="urn:microsoft.com/office/officeart/2005/8/layout/process2"/>
    <dgm:cxn modelId="{A5F354CC-BE3F-4EDA-8AE5-4121E9F6B210}" type="presParOf" srcId="{D784DD17-3843-4784-8992-6949CA6096DA}" destId="{BC7EC83D-D6F1-4899-A502-15D318990FBF}" srcOrd="4" destOrd="0" presId="urn:microsoft.com/office/officeart/2005/8/layout/process2"/>
    <dgm:cxn modelId="{6BF5B7F4-B5D4-4394-B100-601BBC480DD5}" type="presParOf" srcId="{D784DD17-3843-4784-8992-6949CA6096DA}" destId="{C9713562-7EFA-4988-81E8-C1AEE75E3DA8}" srcOrd="5" destOrd="0" presId="urn:microsoft.com/office/officeart/2005/8/layout/process2"/>
    <dgm:cxn modelId="{34830885-130C-4AEC-9639-55D087B23738}" type="presParOf" srcId="{C9713562-7EFA-4988-81E8-C1AEE75E3DA8}" destId="{A99F0B1E-D794-47DA-BCC5-572B7834D4A3}" srcOrd="0" destOrd="0" presId="urn:microsoft.com/office/officeart/2005/8/layout/process2"/>
    <dgm:cxn modelId="{F3F60C86-3C71-4F09-9EF4-9A62B733A09C}" type="presParOf" srcId="{D784DD17-3843-4784-8992-6949CA6096DA}" destId="{1D1F3816-2581-4272-B89A-3CF94B4CA1A6}" srcOrd="6" destOrd="0" presId="urn:microsoft.com/office/officeart/2005/8/layout/process2"/>
    <dgm:cxn modelId="{15B631E1-187B-485D-96A7-6D8B66AB51C7}" type="presParOf" srcId="{D784DD17-3843-4784-8992-6949CA6096DA}" destId="{95EC363F-CCC8-41CF-9FC9-E8AD583EEF18}" srcOrd="7" destOrd="0" presId="urn:microsoft.com/office/officeart/2005/8/layout/process2"/>
    <dgm:cxn modelId="{7CAAEDE8-A087-496B-AA4A-210BF5340B99}" type="presParOf" srcId="{95EC363F-CCC8-41CF-9FC9-E8AD583EEF18}" destId="{8D96E03B-F991-459B-90DA-FEB20E0ADBC3}" srcOrd="0" destOrd="0" presId="urn:microsoft.com/office/officeart/2005/8/layout/process2"/>
    <dgm:cxn modelId="{8EB6A5F1-6584-4492-BB1D-DE9A33E02CE5}" type="presParOf" srcId="{D784DD17-3843-4784-8992-6949CA6096DA}" destId="{757A67E5-9DFF-4C5D-BA0C-5FC66E2D5B69}" srcOrd="8" destOrd="0" presId="urn:microsoft.com/office/officeart/2005/8/layout/process2"/>
    <dgm:cxn modelId="{FC4B6CF1-E7B3-4903-983B-BD7C1CAC5286}" type="presParOf" srcId="{D784DD17-3843-4784-8992-6949CA6096DA}" destId="{1CA8C978-881E-4D2D-B3A2-1C2067AF28F7}" srcOrd="9" destOrd="0" presId="urn:microsoft.com/office/officeart/2005/8/layout/process2"/>
    <dgm:cxn modelId="{AF1624D2-6C83-4B8D-BFC7-2D947027A097}" type="presParOf" srcId="{1CA8C978-881E-4D2D-B3A2-1C2067AF28F7}" destId="{D9E8C284-27D8-4433-825E-F1B82AF4CA7D}" srcOrd="0" destOrd="0" presId="urn:microsoft.com/office/officeart/2005/8/layout/process2"/>
    <dgm:cxn modelId="{EA9C3C7E-EEA6-4B95-A6F0-F12EDEE266D8}" type="presParOf" srcId="{D784DD17-3843-4784-8992-6949CA6096DA}" destId="{841A16BA-817B-4C31-9D4D-927771756BDD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28D3F-444A-4AC3-B56A-479F1D2CB8E5}">
      <dsp:nvSpPr>
        <dsp:cNvPr id="0" name=""/>
        <dsp:cNvSpPr/>
      </dsp:nvSpPr>
      <dsp:spPr>
        <a:xfrm>
          <a:off x="1384699" y="172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JSON Data</a:t>
          </a:r>
          <a:endParaRPr lang="en-US" sz="1700" b="1" kern="1200" dirty="0"/>
        </a:p>
      </dsp:txBody>
      <dsp:txXfrm>
        <a:off x="1399671" y="16697"/>
        <a:ext cx="1975857" cy="481236"/>
      </dsp:txXfrm>
    </dsp:sp>
    <dsp:sp modelId="{F0758125-DA50-40D7-8544-0A297B638512}">
      <dsp:nvSpPr>
        <dsp:cNvPr id="0" name=""/>
        <dsp:cNvSpPr/>
      </dsp:nvSpPr>
      <dsp:spPr>
        <a:xfrm rot="5400000">
          <a:off x="2291753" y="525684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544853"/>
        <a:ext cx="138019" cy="134184"/>
      </dsp:txXfrm>
    </dsp:sp>
    <dsp:sp modelId="{6095D85C-D695-4F3E-961E-8289B77D9CEB}">
      <dsp:nvSpPr>
        <dsp:cNvPr id="0" name=""/>
        <dsp:cNvSpPr/>
      </dsp:nvSpPr>
      <dsp:spPr>
        <a:xfrm>
          <a:off x="1384699" y="76849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Python</a:t>
          </a:r>
          <a:endParaRPr lang="en-US" sz="1700" b="1" kern="1200" dirty="0"/>
        </a:p>
      </dsp:txBody>
      <dsp:txXfrm>
        <a:off x="1399671" y="783467"/>
        <a:ext cx="1975857" cy="481236"/>
      </dsp:txXfrm>
    </dsp:sp>
    <dsp:sp modelId="{2C43781E-3D80-4947-BF4A-6B428E9F1B0D}">
      <dsp:nvSpPr>
        <dsp:cNvPr id="0" name=""/>
        <dsp:cNvSpPr/>
      </dsp:nvSpPr>
      <dsp:spPr>
        <a:xfrm rot="5400000">
          <a:off x="2291753" y="1292454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1311623"/>
        <a:ext cx="138019" cy="134184"/>
      </dsp:txXfrm>
    </dsp:sp>
    <dsp:sp modelId="{BC7EC83D-D6F1-4899-A502-15D318990FBF}">
      <dsp:nvSpPr>
        <dsp:cNvPr id="0" name=""/>
        <dsp:cNvSpPr/>
      </dsp:nvSpPr>
      <dsp:spPr>
        <a:xfrm>
          <a:off x="1384699" y="153526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SQLite Database</a:t>
          </a:r>
          <a:endParaRPr lang="en-US" sz="1700" b="1" kern="1200" dirty="0"/>
        </a:p>
      </dsp:txBody>
      <dsp:txXfrm>
        <a:off x="1399671" y="1550237"/>
        <a:ext cx="1975857" cy="481236"/>
      </dsp:txXfrm>
    </dsp:sp>
    <dsp:sp modelId="{C9713562-7EFA-4988-81E8-C1AEE75E3DA8}">
      <dsp:nvSpPr>
        <dsp:cNvPr id="0" name=""/>
        <dsp:cNvSpPr/>
      </dsp:nvSpPr>
      <dsp:spPr>
        <a:xfrm rot="5400000">
          <a:off x="2291753" y="2059224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2078393"/>
        <a:ext cx="138019" cy="134184"/>
      </dsp:txXfrm>
    </dsp:sp>
    <dsp:sp modelId="{1D1F3816-2581-4272-B89A-3CF94B4CA1A6}">
      <dsp:nvSpPr>
        <dsp:cNvPr id="0" name=""/>
        <dsp:cNvSpPr/>
      </dsp:nvSpPr>
      <dsp:spPr>
        <a:xfrm>
          <a:off x="1384699" y="230203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SQL Queries</a:t>
          </a:r>
          <a:endParaRPr lang="en-US" sz="1700" b="1" kern="1200" dirty="0"/>
        </a:p>
      </dsp:txBody>
      <dsp:txXfrm>
        <a:off x="1399671" y="2317007"/>
        <a:ext cx="1975857" cy="481236"/>
      </dsp:txXfrm>
    </dsp:sp>
    <dsp:sp modelId="{95EC363F-CCC8-41CF-9FC9-E8AD583EEF18}">
      <dsp:nvSpPr>
        <dsp:cNvPr id="0" name=""/>
        <dsp:cNvSpPr/>
      </dsp:nvSpPr>
      <dsp:spPr>
        <a:xfrm rot="5400000">
          <a:off x="2291753" y="2825995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2845164"/>
        <a:ext cx="138019" cy="134184"/>
      </dsp:txXfrm>
    </dsp:sp>
    <dsp:sp modelId="{757A67E5-9DFF-4C5D-BA0C-5FC66E2D5B69}">
      <dsp:nvSpPr>
        <dsp:cNvPr id="0" name=""/>
        <dsp:cNvSpPr/>
      </dsp:nvSpPr>
      <dsp:spPr>
        <a:xfrm>
          <a:off x="1384699" y="306880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err="1" smtClean="0"/>
            <a:t>Streamlit</a:t>
          </a:r>
          <a:r>
            <a:rPr lang="en-US" sz="1700" b="1" kern="1200" dirty="0" smtClean="0"/>
            <a:t> Dashboard</a:t>
          </a:r>
          <a:endParaRPr lang="en-US" sz="1700" b="1" kern="1200" dirty="0"/>
        </a:p>
      </dsp:txBody>
      <dsp:txXfrm>
        <a:off x="1399671" y="3083777"/>
        <a:ext cx="1975857" cy="481236"/>
      </dsp:txXfrm>
    </dsp:sp>
    <dsp:sp modelId="{1CA8C978-881E-4D2D-B3A2-1C2067AF28F7}">
      <dsp:nvSpPr>
        <dsp:cNvPr id="0" name=""/>
        <dsp:cNvSpPr/>
      </dsp:nvSpPr>
      <dsp:spPr>
        <a:xfrm rot="5400000">
          <a:off x="2291753" y="3592765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3611934"/>
        <a:ext cx="138019" cy="134184"/>
      </dsp:txXfrm>
    </dsp:sp>
    <dsp:sp modelId="{841A16BA-817B-4C31-9D4D-927771756BDD}">
      <dsp:nvSpPr>
        <dsp:cNvPr id="0" name=""/>
        <dsp:cNvSpPr/>
      </dsp:nvSpPr>
      <dsp:spPr>
        <a:xfrm>
          <a:off x="1384699" y="383557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User</a:t>
          </a:r>
          <a:endParaRPr lang="en-US" sz="1800" b="1" kern="1200" dirty="0"/>
        </a:p>
      </dsp:txBody>
      <dsp:txXfrm>
        <a:off x="1399671" y="3850547"/>
        <a:ext cx="1975857" cy="481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iya1001/Game-Analytics-Unlocking-Tennis-Data-with-SportRadar-API-.gi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Game Analytics: Unlocking Tennis Data with SportRadar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1402080"/>
            <a:ext cx="9916160" cy="49682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387600" y="2275840"/>
            <a:ext cx="6004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Organization</a:t>
            </a:r>
            <a:r>
              <a:rPr lang="en-IN" sz="2400" dirty="0" smtClean="0"/>
              <a:t>: </a:t>
            </a:r>
            <a:r>
              <a:rPr lang="en-IN" sz="2400" dirty="0" err="1" smtClean="0"/>
              <a:t>Labmentix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b="1" dirty="0" smtClean="0"/>
              <a:t>Domain</a:t>
            </a:r>
            <a:r>
              <a:rPr lang="en-IN" sz="2400" dirty="0" smtClean="0"/>
              <a:t>: Data Analytics/Business Analytics</a:t>
            </a:r>
          </a:p>
          <a:p>
            <a:endParaRPr lang="en-IN" sz="2400" dirty="0"/>
          </a:p>
          <a:p>
            <a:r>
              <a:rPr lang="en-IN" sz="2400" b="1" dirty="0" smtClean="0"/>
              <a:t>Team Members</a:t>
            </a:r>
            <a:r>
              <a:rPr lang="en-IN" sz="2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Jiya</a:t>
            </a:r>
            <a:r>
              <a:rPr lang="en-IN" sz="2400" dirty="0" smtClean="0"/>
              <a:t> Gupta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Bhargavi</a:t>
            </a:r>
            <a:r>
              <a:rPr lang="en-IN" sz="2400" dirty="0" smtClean="0"/>
              <a:t> </a:t>
            </a:r>
            <a:r>
              <a:rPr lang="en-IN" sz="2400" dirty="0" err="1" smtClean="0"/>
              <a:t>Behera</a:t>
            </a: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Sachin </a:t>
            </a:r>
            <a:r>
              <a:rPr lang="en-IN" sz="2400" dirty="0" err="1" smtClean="0"/>
              <a:t>Patro</a:t>
            </a: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Ruxana</a:t>
            </a:r>
            <a:r>
              <a:rPr lang="en-IN" sz="2400" dirty="0" smtClean="0"/>
              <a:t> </a:t>
            </a:r>
            <a:r>
              <a:rPr lang="en-IN" sz="2400" dirty="0" err="1" smtClean="0"/>
              <a:t>Hisham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About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400" y="995680"/>
            <a:ext cx="10485120" cy="4978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dirty="0"/>
              <a:t>• Centralized tennis analytics system</a:t>
            </a:r>
          </a:p>
          <a:p>
            <a:pPr>
              <a:defRPr sz="2200"/>
            </a:pPr>
            <a:r>
              <a:rPr dirty="0"/>
              <a:t>• Stores competitions, venues, competitors &amp; rankings</a:t>
            </a:r>
          </a:p>
          <a:p>
            <a:pPr>
              <a:defRPr sz="2200"/>
            </a:pPr>
            <a:r>
              <a:rPr dirty="0"/>
              <a:t>• SQLite database with SQL analysis</a:t>
            </a:r>
          </a:p>
          <a:p>
            <a:pPr>
              <a:defRPr sz="2200"/>
            </a:pPr>
            <a:r>
              <a:rPr dirty="0"/>
              <a:t>• Interactive </a:t>
            </a:r>
            <a:r>
              <a:rPr dirty="0" smtClean="0"/>
              <a:t>dashboard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95680" y="1798320"/>
            <a:ext cx="925576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Overview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Sports </a:t>
            </a:r>
            <a:r>
              <a:rPr lang="en-IN" sz="2400" dirty="0"/>
              <a:t>analytics helps organizations make informed decisions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This </a:t>
            </a:r>
            <a:r>
              <a:rPr lang="en-IN" sz="2400" dirty="0"/>
              <a:t>project manages tennis competition data using a relational database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The </a:t>
            </a:r>
            <a:r>
              <a:rPr lang="en-IN" sz="2400" dirty="0"/>
              <a:t>application stores, </a:t>
            </a:r>
            <a:r>
              <a:rPr lang="en-IN" sz="2400" dirty="0" err="1"/>
              <a:t>analyzes</a:t>
            </a:r>
            <a:r>
              <a:rPr lang="en-IN" sz="2400" dirty="0"/>
              <a:t>, and visualizes tennis-related information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An </a:t>
            </a:r>
            <a:r>
              <a:rPr lang="en-IN" sz="2400" dirty="0"/>
              <a:t>interactive dashboard is developed using </a:t>
            </a:r>
            <a:r>
              <a:rPr lang="en-IN" sz="2400" dirty="0" err="1"/>
              <a:t>Streamlit</a:t>
            </a:r>
            <a:r>
              <a:rPr lang="en-IN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76960"/>
            <a:ext cx="11277600" cy="5049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• Manual data handling is inefficient</a:t>
            </a:r>
          </a:p>
          <a:p>
            <a:pPr>
              <a:defRPr sz="2200"/>
            </a:pPr>
            <a:r>
              <a:t>• Difficult to analyze large datasets</a:t>
            </a:r>
          </a:p>
          <a:p>
            <a:pPr>
              <a:defRPr sz="2200"/>
            </a:pPr>
            <a:r>
              <a:t>• Need centralized database</a:t>
            </a:r>
          </a:p>
          <a:p>
            <a:pPr>
              <a:defRPr sz="2200"/>
            </a:pPr>
            <a:r>
              <a:t>• Interactive analytics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320" y="2062480"/>
            <a:ext cx="10058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</a:t>
            </a:r>
            <a:r>
              <a:rPr lang="en-IN" sz="2400" b="1" dirty="0" smtClean="0"/>
              <a:t>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Managing </a:t>
            </a:r>
            <a:r>
              <a:rPr lang="en-IN" sz="2400" dirty="0"/>
              <a:t>tennis data manually is inefficient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Large </a:t>
            </a:r>
            <a:r>
              <a:rPr lang="en-IN" sz="2400" dirty="0"/>
              <a:t>datasets become difficult to organize and </a:t>
            </a:r>
            <a:r>
              <a:rPr lang="en-IN" sz="2400" dirty="0" err="1"/>
              <a:t>analyze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 </a:t>
            </a:r>
            <a:r>
              <a:rPr lang="en-IN" sz="2400" dirty="0"/>
              <a:t>centralized system is required to store and retrieve information efficiently</a:t>
            </a:r>
            <a:r>
              <a:rPr lang="en-IN" sz="2400" dirty="0" smtClean="0"/>
              <a:t>.</a:t>
            </a:r>
          </a:p>
          <a:p>
            <a:endParaRPr lang="en-IN" sz="2400" dirty="0"/>
          </a:p>
          <a:p>
            <a:endParaRPr lang="en-IN" sz="2400" dirty="0" smtClean="0"/>
          </a:p>
          <a:p>
            <a:r>
              <a:rPr lang="en-IN" sz="2400" b="1" dirty="0" smtClean="0"/>
              <a:t>Solution</a:t>
            </a:r>
          </a:p>
          <a:p>
            <a:r>
              <a:rPr lang="en-IN" sz="2400" dirty="0" smtClean="0"/>
              <a:t>Develop </a:t>
            </a:r>
            <a:r>
              <a:rPr lang="en-IN" sz="2400" dirty="0"/>
              <a:t>a Tennis Analytics application using Python, SQLite, SQL, and </a:t>
            </a:r>
            <a:r>
              <a:rPr lang="en-IN" sz="2400" dirty="0" err="1"/>
              <a:t>Streamlit</a:t>
            </a:r>
            <a:r>
              <a:rPr lang="en-IN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97920" cy="5212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• Design relational database</a:t>
            </a:r>
          </a:p>
          <a:p>
            <a:pPr>
              <a:defRPr sz="2200"/>
            </a:pPr>
            <a:r>
              <a:t>• Store structured tennis data</a:t>
            </a:r>
          </a:p>
          <a:p>
            <a:pPr>
              <a:defRPr sz="2200"/>
            </a:pPr>
            <a:r>
              <a:t>• Perform SQL analysis</a:t>
            </a:r>
          </a:p>
          <a:p>
            <a:pPr>
              <a:defRPr sz="2200"/>
            </a:pPr>
            <a:r>
              <a:t>• Develop Streamlit dashboard</a:t>
            </a:r>
          </a:p>
          <a:p>
            <a:pPr>
              <a:defRPr sz="2200"/>
            </a:pPr>
            <a:r>
              <a:t>• Enable search and rankings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080" y="1878320"/>
            <a:ext cx="9641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Objectives</a:t>
            </a:r>
          </a:p>
          <a:p>
            <a:endParaRPr lang="en-I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Design </a:t>
            </a:r>
            <a:r>
              <a:rPr lang="en-IN" sz="2400" dirty="0"/>
              <a:t>a relational database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Generate </a:t>
            </a:r>
            <a:r>
              <a:rPr lang="en-IN" sz="2400" dirty="0"/>
              <a:t>structured tennis datasets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Store </a:t>
            </a:r>
            <a:r>
              <a:rPr lang="en-IN" sz="2400" dirty="0"/>
              <a:t>data in SQLite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Analyze</a:t>
            </a:r>
            <a:r>
              <a:rPr lang="en-IN" sz="2400" dirty="0" smtClean="0"/>
              <a:t> </a:t>
            </a:r>
            <a:r>
              <a:rPr lang="en-IN" sz="2400" dirty="0"/>
              <a:t>data using SQL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Develop </a:t>
            </a:r>
            <a:r>
              <a:rPr lang="en-IN" sz="2400" dirty="0"/>
              <a:t>an interactive dashboard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Provide </a:t>
            </a:r>
            <a:r>
              <a:rPr lang="en-IN" sz="2400" dirty="0"/>
              <a:t>competitor search and </a:t>
            </a:r>
            <a:r>
              <a:rPr lang="en-IN" sz="2400" dirty="0" smtClean="0"/>
              <a:t>rankings.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Display </a:t>
            </a:r>
            <a:r>
              <a:rPr lang="en-IN" sz="2400" dirty="0"/>
              <a:t>venue and competition details.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68400"/>
            <a:ext cx="11216640" cy="4958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dirty="0"/>
              <a:t>Python</a:t>
            </a:r>
          </a:p>
          <a:p>
            <a:pPr>
              <a:defRPr sz="2200"/>
            </a:pPr>
            <a:r>
              <a:rPr dirty="0"/>
              <a:t>SQLite</a:t>
            </a:r>
          </a:p>
          <a:p>
            <a:pPr>
              <a:defRPr sz="2200"/>
            </a:pPr>
            <a:r>
              <a:rPr dirty="0"/>
              <a:t>SQL</a:t>
            </a:r>
          </a:p>
          <a:p>
            <a:pPr>
              <a:defRPr sz="2200"/>
            </a:pPr>
            <a:r>
              <a:rPr dirty="0"/>
              <a:t>JSON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VS Code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415979"/>
              </p:ext>
            </p:extLst>
          </p:nvPr>
        </p:nvGraphicFramePr>
        <p:xfrm>
          <a:off x="1432560" y="1696719"/>
          <a:ext cx="8826395" cy="411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8320">
                  <a:extLst>
                    <a:ext uri="{9D8B030D-6E8A-4147-A177-3AD203B41FA5}">
                      <a16:colId xmlns:a16="http://schemas.microsoft.com/office/drawing/2014/main" val="3540537608"/>
                    </a:ext>
                  </a:extLst>
                </a:gridCol>
                <a:gridCol w="4488075">
                  <a:extLst>
                    <a:ext uri="{9D8B030D-6E8A-4147-A177-3AD203B41FA5}">
                      <a16:colId xmlns:a16="http://schemas.microsoft.com/office/drawing/2014/main" val="1155368584"/>
                    </a:ext>
                  </a:extLst>
                </a:gridCol>
              </a:tblGrid>
              <a:tr h="521752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Technology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623609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Python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Programming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212650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SQLite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Database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401990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SQL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 Analysis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671391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JSON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 Storage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296098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u="none" dirty="0" err="1" smtClean="0">
                          <a:solidFill>
                            <a:schemeClr val="tx1"/>
                          </a:solidFill>
                        </a:rPr>
                        <a:t>Streamlit</a:t>
                      </a:r>
                      <a:endParaRPr lang="en-IN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Dashboard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503097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VS Code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Development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0792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80" y="1066800"/>
            <a:ext cx="11115040" cy="50596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JSON Files → Python → SQLite → SQL Queries → Streamlit Dashboard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343177933"/>
              </p:ext>
            </p:extLst>
          </p:nvPr>
        </p:nvGraphicFramePr>
        <p:xfrm>
          <a:off x="3505200" y="1463040"/>
          <a:ext cx="4775200" cy="4348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26160"/>
            <a:ext cx="11206480" cy="5100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Tables:</a:t>
            </a:r>
          </a:p>
          <a:p>
            <a:pPr>
              <a:defRPr sz="2200"/>
            </a:pPr>
            <a:r>
              <a:t>• Categories</a:t>
            </a:r>
          </a:p>
          <a:p>
            <a:pPr>
              <a:defRPr sz="2200"/>
            </a:pPr>
            <a:r>
              <a:t>• Competitions</a:t>
            </a:r>
          </a:p>
          <a:p>
            <a:pPr>
              <a:defRPr sz="2200"/>
            </a:pPr>
            <a:r>
              <a:t>• Complexes</a:t>
            </a:r>
          </a:p>
          <a:p>
            <a:pPr>
              <a:defRPr sz="2200"/>
            </a:pPr>
            <a:r>
              <a:t>• Venues</a:t>
            </a:r>
          </a:p>
          <a:p>
            <a:pPr>
              <a:defRPr sz="2200"/>
            </a:pPr>
            <a:r>
              <a:t>• Competitors</a:t>
            </a:r>
          </a:p>
          <a:p>
            <a:pPr>
              <a:defRPr sz="2200"/>
            </a:pPr>
            <a:r>
              <a:t>• Competitor_Rankings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[Insert ER Diagram]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3360" y="2245360"/>
            <a:ext cx="894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Competitions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Complexes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Venues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Competitor_Rankings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SQL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95680"/>
            <a:ext cx="11216640" cy="51308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dirty="0"/>
              <a:t>• 20 analytical SQL queries</a:t>
            </a:r>
          </a:p>
          <a:p>
            <a:pPr>
              <a:defRPr sz="2200"/>
            </a:pPr>
            <a:r>
              <a:rPr dirty="0"/>
              <a:t>• JOIN</a:t>
            </a:r>
          </a:p>
          <a:p>
            <a:pPr>
              <a:defRPr sz="2200"/>
            </a:pPr>
            <a:r>
              <a:rPr dirty="0"/>
              <a:t>• GROUP BY</a:t>
            </a:r>
          </a:p>
          <a:p>
            <a:pPr>
              <a:defRPr sz="2200"/>
            </a:pPr>
            <a:r>
              <a:rPr dirty="0"/>
              <a:t>• ORDER BY</a:t>
            </a:r>
          </a:p>
          <a:p>
            <a:pPr>
              <a:defRPr sz="2200"/>
            </a:pPr>
            <a:r>
              <a:rPr dirty="0"/>
              <a:t>• Aggregate Functions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[Insert SQL screenshots]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" y="1330960"/>
            <a:ext cx="6289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20 SQL Queries </a:t>
            </a:r>
            <a:r>
              <a:rPr lang="en-IN" sz="2000" dirty="0" smtClean="0"/>
              <a:t>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Joins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GROUP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ORDER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Aggregate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Filtering</a:t>
            </a:r>
            <a:endParaRPr lang="en-IN" sz="2000" dirty="0"/>
          </a:p>
        </p:txBody>
      </p:sp>
      <p:sp>
        <p:nvSpPr>
          <p:cNvPr id="9" name="Rectangle 8"/>
          <p:cNvSpPr/>
          <p:nvPr/>
        </p:nvSpPr>
        <p:spPr>
          <a:xfrm>
            <a:off x="802640" y="3269952"/>
            <a:ext cx="4856480" cy="25650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290320" y="3382495"/>
            <a:ext cx="3881120" cy="23399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4560" y="3269952"/>
            <a:ext cx="4624388" cy="25650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6146801" y="3382496"/>
            <a:ext cx="4145280" cy="2339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637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smtClean="0"/>
              <a:t>Dashboard</a:t>
            </a:r>
            <a:r>
              <a:rPr lang="en-IN" dirty="0" smtClean="0"/>
              <a:t> Part 1</a:t>
            </a:r>
            <a:endParaRPr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18160" y="893527"/>
            <a:ext cx="6939280" cy="245927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518160" y="3901441"/>
            <a:ext cx="5242560" cy="2509519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5923280" y="3901441"/>
            <a:ext cx="5598160" cy="2438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1024489"/>
            <a:ext cx="3637280" cy="2328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82000" y="1330960"/>
            <a:ext cx="3281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</a:t>
            </a:r>
            <a:r>
              <a:rPr lang="en-US" b="1" dirty="0" smtClean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Overview </a:t>
            </a:r>
            <a:r>
              <a:rPr lang="en-US" b="1" dirty="0"/>
              <a:t>of tennis </a:t>
            </a:r>
            <a:r>
              <a:rPr lang="en-US" b="1" dirty="0" smtClean="0"/>
              <a:t>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Search 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View competitions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Interactive </a:t>
            </a:r>
            <a:r>
              <a:rPr lang="en-US" b="1" dirty="0"/>
              <a:t>data </a:t>
            </a:r>
            <a:r>
              <a:rPr lang="en-US" b="1" dirty="0" smtClean="0"/>
              <a:t>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User-friendly </a:t>
            </a:r>
            <a:r>
              <a:rPr lang="en-US" b="1" dirty="0"/>
              <a:t>interface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824480" y="3352800"/>
            <a:ext cx="196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Home Dashboard</a:t>
            </a:r>
            <a:endParaRPr lang="en-IN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720340" y="641754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Competitors</a:t>
            </a:r>
            <a:endParaRPr lang="en-IN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016240" y="6339841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Competitions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69088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-1" y="0"/>
            <a:ext cx="12188826" cy="690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800" b="1" dirty="0">
              <a:solidFill>
                <a:srgbClr val="002060"/>
              </a:solidFill>
            </a:endParaRPr>
          </a:p>
          <a:p>
            <a:r>
              <a:rPr lang="en-IN" sz="2800" b="1" dirty="0" smtClean="0"/>
              <a:t>    Dashboard Part 2</a:t>
            </a:r>
            <a:endParaRPr lang="en-IN" sz="2800" b="1" dirty="0"/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3695" y="1044575"/>
            <a:ext cx="7551103" cy="264350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73695" y="4041775"/>
            <a:ext cx="7551103" cy="23793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63280" y="2132647"/>
            <a:ext cx="3291840" cy="26019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747760" y="2641600"/>
            <a:ext cx="257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Additional </a:t>
            </a:r>
            <a:r>
              <a:rPr lang="en-US" sz="2000" b="1" dirty="0" smtClean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Venue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Player rankings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Ranking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Search </a:t>
            </a:r>
            <a:r>
              <a:rPr lang="en-US" sz="2000" b="1" dirty="0"/>
              <a:t>and filtering</a:t>
            </a:r>
            <a:endParaRPr lang="en-IN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987040" y="3688080"/>
            <a:ext cx="157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Venues</a:t>
            </a:r>
            <a:endParaRPr lang="en-IN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987040" y="642112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Rankings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4199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3520" y="934720"/>
            <a:ext cx="11297920" cy="5588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767840" y="2411998"/>
            <a:ext cx="77927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Results</a:t>
            </a:r>
          </a:p>
          <a:p>
            <a:endParaRPr lang="en-I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Database </a:t>
            </a:r>
            <a:r>
              <a:rPr lang="en-IN" sz="2400" dirty="0"/>
              <a:t>created successfully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JSON </a:t>
            </a:r>
            <a:r>
              <a:rPr lang="en-IN" sz="2400" dirty="0"/>
              <a:t>data loaded successfully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SQL </a:t>
            </a:r>
            <a:r>
              <a:rPr lang="en-IN" sz="2400" dirty="0"/>
              <a:t>queries executed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Interactive </a:t>
            </a:r>
            <a:r>
              <a:rPr lang="en-IN" sz="2400" dirty="0"/>
              <a:t>dashboard developed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Search </a:t>
            </a:r>
            <a:r>
              <a:rPr lang="en-IN" sz="2400" dirty="0"/>
              <a:t>functionality implemented</a:t>
            </a:r>
            <a:r>
              <a:rPr lang="en-IN" sz="2400" dirty="0" smtClean="0"/>
              <a:t>.</a:t>
            </a:r>
            <a:br>
              <a:rPr lang="en-IN" sz="2400" dirty="0" smtClean="0"/>
            </a:br>
            <a:r>
              <a:rPr lang="en-IN" sz="2400" dirty="0" smtClean="0"/>
              <a:t>Ranking </a:t>
            </a:r>
            <a:r>
              <a:rPr lang="en-IN" sz="2400" dirty="0"/>
              <a:t>analysis completed.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&amp;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68400"/>
            <a:ext cx="11115040" cy="4958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Challenges:</a:t>
            </a:r>
          </a:p>
          <a:p>
            <a:pPr>
              <a:defRPr sz="2200"/>
            </a:pPr>
            <a:r>
              <a:t>• API unavailable</a:t>
            </a:r>
          </a:p>
          <a:p>
            <a:pPr>
              <a:defRPr sz="2200"/>
            </a:pPr>
            <a:r>
              <a:t>• Database relationships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Learning:</a:t>
            </a:r>
          </a:p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SQL</a:t>
            </a:r>
          </a:p>
          <a:p>
            <a:pPr>
              <a:defRPr sz="2200"/>
            </a:pPr>
            <a:r>
              <a:t>• SQLite</a:t>
            </a:r>
          </a:p>
          <a:p>
            <a:pPr>
              <a:defRPr sz="2200"/>
            </a:pPr>
            <a:r>
              <a:t>•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5720" y="1232833"/>
            <a:ext cx="9398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API </a:t>
            </a:r>
            <a:r>
              <a:rPr lang="en-IN" sz="2400" dirty="0"/>
              <a:t>key was unavailable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Designing </a:t>
            </a:r>
            <a:r>
              <a:rPr lang="en-IN" sz="2400" dirty="0"/>
              <a:t>relational database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Data </a:t>
            </a:r>
            <a:r>
              <a:rPr lang="en-IN" sz="2400" dirty="0"/>
              <a:t>loading from JSON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Dashboard </a:t>
            </a:r>
            <a:r>
              <a:rPr lang="en-IN" sz="2400" dirty="0"/>
              <a:t>development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r>
              <a:rPr lang="en-IN" sz="2400" b="1" dirty="0" smtClean="0"/>
              <a:t>Learning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Python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Streamlit</a:t>
            </a: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Data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Team </a:t>
            </a:r>
            <a:r>
              <a:rPr lang="en-IN" sz="2400" dirty="0"/>
              <a:t>Collaboration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87760" cy="5212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Conclusion:</a:t>
            </a:r>
          </a:p>
          <a:p>
            <a:pPr>
              <a:defRPr sz="2200"/>
            </a:pPr>
            <a:r>
              <a:t>Project objectives achieved.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Future Scope:</a:t>
            </a:r>
          </a:p>
          <a:p>
            <a:pPr>
              <a:defRPr sz="2200"/>
            </a:pPr>
            <a:r>
              <a:t>• Live API</a:t>
            </a:r>
          </a:p>
          <a:p>
            <a:pPr>
              <a:defRPr sz="2200"/>
            </a:pPr>
            <a:r>
              <a:t>• Machine Learning</a:t>
            </a:r>
          </a:p>
          <a:p>
            <a:pPr>
              <a:defRPr sz="2200"/>
            </a:pPr>
            <a:r>
              <a:t>•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59840"/>
            <a:ext cx="100380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Successfully </a:t>
            </a:r>
            <a:r>
              <a:rPr lang="en-IN" sz="2400" dirty="0"/>
              <a:t>developed a complete Tennis Game Analytics application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Integrated </a:t>
            </a:r>
            <a:r>
              <a:rPr lang="en-IN" sz="2400" dirty="0"/>
              <a:t>Python, SQLite, SQL, and </a:t>
            </a:r>
            <a:r>
              <a:rPr lang="en-IN" sz="2400" dirty="0" err="1"/>
              <a:t>Streamlit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Achieved </a:t>
            </a:r>
            <a:r>
              <a:rPr lang="en-IN" sz="2400" dirty="0"/>
              <a:t>all project objectives</a:t>
            </a:r>
            <a:r>
              <a:rPr lang="en-IN" sz="2400" dirty="0" smtClean="0"/>
              <a:t>.</a:t>
            </a:r>
          </a:p>
          <a:p>
            <a:endParaRPr lang="en-IN" sz="2400" dirty="0" smtClean="0"/>
          </a:p>
          <a:p>
            <a:r>
              <a:rPr lang="en-IN" sz="2400" b="1" dirty="0" smtClean="0"/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Live </a:t>
            </a:r>
            <a:r>
              <a:rPr lang="en-IN" sz="2400" dirty="0"/>
              <a:t>API integration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Machine </a:t>
            </a:r>
            <a:r>
              <a:rPr lang="en-IN" sz="2400" dirty="0"/>
              <a:t>Learning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Cloud </a:t>
            </a:r>
            <a:r>
              <a:rPr lang="en-IN" sz="2400" dirty="0"/>
              <a:t>deployment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More </a:t>
            </a:r>
            <a:r>
              <a:rPr lang="en-IN" sz="2400" dirty="0"/>
              <a:t>visualizations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Multi-sport </a:t>
            </a:r>
            <a:r>
              <a:rPr lang="en-IN" sz="2400" dirty="0"/>
              <a:t>analytics.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flipV="1">
            <a:off x="-1" y="0"/>
            <a:ext cx="12188825" cy="85344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flipH="1">
            <a:off x="116839" y="74414"/>
            <a:ext cx="5593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 smtClean="0">
              <a:solidFill>
                <a:schemeClr val="bg1"/>
              </a:solidFill>
            </a:endParaRPr>
          </a:p>
          <a:p>
            <a:r>
              <a:rPr lang="en-IN" sz="2800" b="1" dirty="0" smtClean="0">
                <a:solidFill>
                  <a:schemeClr val="bg1"/>
                </a:solidFill>
              </a:rPr>
              <a:t>THANK</a:t>
            </a:r>
            <a:r>
              <a:rPr lang="en-IN" sz="2800" dirty="0" smtClean="0">
                <a:solidFill>
                  <a:schemeClr val="bg1"/>
                </a:solidFill>
              </a:rPr>
              <a:t> </a:t>
            </a:r>
            <a:r>
              <a:rPr lang="en-IN" sz="2800" b="1" dirty="0" smtClean="0">
                <a:solidFill>
                  <a:schemeClr val="bg1"/>
                </a:solidFill>
              </a:rPr>
              <a:t>YOU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3280" y="2265680"/>
            <a:ext cx="947928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Thank you for your time and attention.</a:t>
            </a:r>
          </a:p>
          <a:p>
            <a:endParaRPr lang="en-IN" sz="2400" dirty="0"/>
          </a:p>
          <a:p>
            <a:endParaRPr lang="en-IN" sz="2400" dirty="0" smtClean="0"/>
          </a:p>
          <a:p>
            <a:r>
              <a:rPr lang="en-IN" sz="2400" dirty="0"/>
              <a:t>📂 GitHub Repository</a:t>
            </a:r>
            <a:r>
              <a:rPr lang="en-IN" sz="2400" dirty="0" smtClean="0"/>
              <a:t>:</a:t>
            </a:r>
          </a:p>
          <a:p>
            <a:endParaRPr lang="en-IN" sz="2400" dirty="0" smtClean="0"/>
          </a:p>
          <a:p>
            <a:r>
              <a:rPr lang="en-IN" dirty="0">
                <a:hlinkClick r:id="rId2"/>
              </a:rPr>
              <a:t>https://github.com/Jiya1001/Game-Analytics-Unlocking-Tennis-Data-with-SportRadar-API-.git</a:t>
            </a:r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534</Words>
  <Application>Microsoft Office PowerPoint</Application>
  <PresentationFormat>Custom</PresentationFormat>
  <Paragraphs>189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16</cp:revision>
  <dcterms:created xsi:type="dcterms:W3CDTF">2013-01-27T09:14:16Z</dcterms:created>
  <dcterms:modified xsi:type="dcterms:W3CDTF">2026-07-05T17:18:53Z</dcterms:modified>
  <cp:category/>
</cp:coreProperties>
</file>